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d6cf3365af44df" /><Relationship Type="http://schemas.openxmlformats.org/officeDocument/2006/relationships/extended-properties" Target="/docProps/app.xml" Id="R4276a150ae7043b9" /><Relationship Type="http://schemas.openxmlformats.org/officeDocument/2006/relationships/officeDocument" Target="/ppt/presentation.xml" Id="R23acad7998ea44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601493543d4c56"/>
  </p:sldMasterIdLst>
  <p:notesMasterIdLst>
    <p:notesMasterId xmlns:r="http://schemas.openxmlformats.org/officeDocument/2006/relationships" r:id="Ra834e4a6d3c64da4"/>
  </p:notesMasterIdLst>
  <p:sldIdLst>
    <p:sldId xmlns:r="http://schemas.openxmlformats.org/officeDocument/2006/relationships" id="256" r:id="Rff48f139d2fa44a1"/>
    <p:sldId xmlns:r="http://schemas.openxmlformats.org/officeDocument/2006/relationships" id="257" r:id="Rc5d6cce661d94c3c"/>
    <p:sldId xmlns:r="http://schemas.openxmlformats.org/officeDocument/2006/relationships" id="258" r:id="Rba0c02e3b1874cb6"/>
    <p:sldId xmlns:r="http://schemas.openxmlformats.org/officeDocument/2006/relationships" id="259" r:id="R755dfb170b4a4ea5"/>
    <p:sldId xmlns:r="http://schemas.openxmlformats.org/officeDocument/2006/relationships" id="260" r:id="R658f880037e14af1"/>
    <p:sldId xmlns:r="http://schemas.openxmlformats.org/officeDocument/2006/relationships" id="261" r:id="R5f77a3a0514a4461"/>
    <p:sldId xmlns:r="http://schemas.openxmlformats.org/officeDocument/2006/relationships" id="262" r:id="R882a36e6194448ab"/>
    <p:sldId xmlns:r="http://schemas.openxmlformats.org/officeDocument/2006/relationships" id="263" r:id="Rcfee307dbda94fb8"/>
    <p:sldId xmlns:r="http://schemas.openxmlformats.org/officeDocument/2006/relationships" id="264" r:id="Ra8b2f75e466149bd"/>
    <p:sldId xmlns:r="http://schemas.openxmlformats.org/officeDocument/2006/relationships" id="265" r:id="R3404f9a062ba40ea"/>
    <p:sldId xmlns:r="http://schemas.openxmlformats.org/officeDocument/2006/relationships" id="266" r:id="Rd8e93e63d1284f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01493543d4c56" /><Relationship Type="http://schemas.openxmlformats.org/officeDocument/2006/relationships/theme" Target="/ppt/theme/theme1.xml" Id="Rf0d867b4ceaf45ec" /><Relationship Type="http://schemas.openxmlformats.org/officeDocument/2006/relationships/notesMaster" Target="/ppt/notesMasters/notesMaster1.xml" Id="Ra834e4a6d3c64da4" /><Relationship Type="http://schemas.openxmlformats.org/officeDocument/2006/relationships/presProps" Target="/ppt/presProps.xml" Id="R25a26f8d662e4c41" /><Relationship Type="http://schemas.openxmlformats.org/officeDocument/2006/relationships/viewProps" Target="/ppt/viewProps.xml" Id="Rb49f613538ff462e" /><Relationship Type="http://schemas.openxmlformats.org/officeDocument/2006/relationships/tableStyles" Target="/ppt/tableStyles.xml" Id="R6eea837b140f4d74" /><Relationship Type="http://schemas.openxmlformats.org/officeDocument/2006/relationships/slide" Target="/ppt/slides/slide1.xml" Id="Rff48f139d2fa44a1" /><Relationship Type="http://schemas.openxmlformats.org/officeDocument/2006/relationships/slide" Target="/ppt/slides/slide2.xml" Id="Rc5d6cce661d94c3c" /><Relationship Type="http://schemas.openxmlformats.org/officeDocument/2006/relationships/slide" Target="/ppt/slides/slide3.xml" Id="Rba0c02e3b1874cb6" /><Relationship Type="http://schemas.openxmlformats.org/officeDocument/2006/relationships/slide" Target="/ppt/slides/slide4.xml" Id="R755dfb170b4a4ea5" /><Relationship Type="http://schemas.openxmlformats.org/officeDocument/2006/relationships/slide" Target="/ppt/slides/slide5.xml" Id="R658f880037e14af1" /><Relationship Type="http://schemas.openxmlformats.org/officeDocument/2006/relationships/slide" Target="/ppt/slides/slide6.xml" Id="R5f77a3a0514a4461" /><Relationship Type="http://schemas.openxmlformats.org/officeDocument/2006/relationships/slide" Target="/ppt/slides/slide7.xml" Id="R882a36e6194448ab" /><Relationship Type="http://schemas.openxmlformats.org/officeDocument/2006/relationships/slide" Target="/ppt/slides/slide8.xml" Id="Rcfee307dbda94fb8" /><Relationship Type="http://schemas.openxmlformats.org/officeDocument/2006/relationships/slide" Target="/ppt/slides/slide9.xml" Id="Ra8b2f75e466149bd" /><Relationship Type="http://schemas.openxmlformats.org/officeDocument/2006/relationships/slide" Target="/ppt/slides/slide10.xml" Id="R3404f9a062ba40ea" /><Relationship Type="http://schemas.openxmlformats.org/officeDocument/2006/relationships/slide" Target="/ppt/slides/slide11.xml" Id="Rd8e93e63d1284f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1e57f8b66a646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405c6d6ce8490d" /><Relationship Type="http://schemas.openxmlformats.org/officeDocument/2006/relationships/notesMaster" Target="/ppt/notesMasters/notesMaster1.xml" Id="R4210bcd9b1b946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d40d10f8ca4c97" /><Relationship Type="http://schemas.openxmlformats.org/officeDocument/2006/relationships/notesMaster" Target="/ppt/notesMasters/notesMaster1.xml" Id="Re7590da043dc48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54b49df4b242b9" /><Relationship Type="http://schemas.openxmlformats.org/officeDocument/2006/relationships/notesMaster" Target="/ppt/notesMasters/notesMaster1.xml" Id="Rf924b6e58ba44d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d63cb4cf7e4b30" /><Relationship Type="http://schemas.openxmlformats.org/officeDocument/2006/relationships/notesMaster" Target="/ppt/notesMasters/notesMaster1.xml" Id="Ra0ea6bf7288442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231e7f016f46bd" /><Relationship Type="http://schemas.openxmlformats.org/officeDocument/2006/relationships/notesMaster" Target="/ppt/notesMasters/notesMaster1.xml" Id="R612d775e21ea45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1cfec13f384064" /><Relationship Type="http://schemas.openxmlformats.org/officeDocument/2006/relationships/notesMaster" Target="/ppt/notesMasters/notesMaster1.xml" Id="R2b9b9b01e10d4d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613d78f2bb43e1" /><Relationship Type="http://schemas.openxmlformats.org/officeDocument/2006/relationships/notesMaster" Target="/ppt/notesMasters/notesMaster1.xml" Id="Re0e5aa1d8f9b4c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6f3382662a424a" /><Relationship Type="http://schemas.openxmlformats.org/officeDocument/2006/relationships/notesMaster" Target="/ppt/notesMasters/notesMaster1.xml" Id="R84e062f7064946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9ecda8183445f5" /><Relationship Type="http://schemas.openxmlformats.org/officeDocument/2006/relationships/notesMaster" Target="/ppt/notesMasters/notesMaster1.xml" Id="Rccfc5501cf1e42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3cb71ea70e47ec" /><Relationship Type="http://schemas.openxmlformats.org/officeDocument/2006/relationships/notesMaster" Target="/ppt/notesMasters/notesMaster1.xml" Id="R06ed89bdcd184c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85210e1b34400a" /><Relationship Type="http://schemas.openxmlformats.org/officeDocument/2006/relationships/notesMaster" Target="/ppt/notesMasters/notesMaster1.xml" Id="R02d52ee7db7e4d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9d2869d3d450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fa6bc4f492a45ff" /><Relationship Type="http://schemas.openxmlformats.org/officeDocument/2006/relationships/slideLayout" Target="/ppt/slideLayouts/slideLayout2.xml" Id="R27b8f4e64d9a43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b8f4e64d9a43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1bd63abfca439f" /><Relationship Type="http://schemas.openxmlformats.org/officeDocument/2006/relationships/notesSlide" Target="/ppt/notesSlides/notesSlide1.xml" Id="R6da7d436b2614d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d382ba3aa544be" /><Relationship Type="http://schemas.openxmlformats.org/officeDocument/2006/relationships/notesSlide" Target="/ppt/notesSlides/notesSlide2.xml" Id="Racaf7f641e1848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19390f86cc4798" /><Relationship Type="http://schemas.openxmlformats.org/officeDocument/2006/relationships/notesSlide" Target="/ppt/notesSlides/notesSlide3.xml" Id="Re10ddbea38d346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9ce29403914339" /><Relationship Type="http://schemas.openxmlformats.org/officeDocument/2006/relationships/notesSlide" Target="/ppt/notesSlides/notesSlide4.xml" Id="R0d1603984b4544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8d61fbd9cc465d" /><Relationship Type="http://schemas.openxmlformats.org/officeDocument/2006/relationships/notesSlide" Target="/ppt/notesSlides/notesSlide5.xml" Id="R80bac9254b5c49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d0350354bb4b09" /><Relationship Type="http://schemas.openxmlformats.org/officeDocument/2006/relationships/notesSlide" Target="/ppt/notesSlides/notesSlide6.xml" Id="R6cf6efc516da46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e04570ad7d4986" /><Relationship Type="http://schemas.openxmlformats.org/officeDocument/2006/relationships/image" Target="/ppt/media/image.png" Id="R4ca353b87f4e42b4" /><Relationship Type="http://schemas.openxmlformats.org/officeDocument/2006/relationships/notesSlide" Target="/ppt/notesSlides/notesSlide7.xml" Id="R3607f2ac175c4c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adb857161d41cf" /><Relationship Type="http://schemas.openxmlformats.org/officeDocument/2006/relationships/image" Target="/ppt/media/image2.png" Id="R2e653f56b8ca466f" /><Relationship Type="http://schemas.openxmlformats.org/officeDocument/2006/relationships/notesSlide" Target="/ppt/notesSlides/notesSlide8.xml" Id="R5d7208a1bfb04a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ea8c491eb74150" /><Relationship Type="http://schemas.openxmlformats.org/officeDocument/2006/relationships/image" Target="/ppt/media/image3.png" Id="Rf2b86b9481684dca" /><Relationship Type="http://schemas.openxmlformats.org/officeDocument/2006/relationships/notesSlide" Target="/ppt/notesSlides/notesSlide9.xml" Id="R2549846527df42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e1b6519a404df7" /><Relationship Type="http://schemas.openxmlformats.org/officeDocument/2006/relationships/image" Target="/ppt/media/image4.png" Id="Rff7e0e90d91444b7" /><Relationship Type="http://schemas.openxmlformats.org/officeDocument/2006/relationships/notesSlide" Target="/ppt/notesSlides/notesSlide10.xml" Id="Re54da3fb81fc4c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fa9cc503dc433a" /><Relationship Type="http://schemas.openxmlformats.org/officeDocument/2006/relationships/notesSlide" Target="/ppt/notesSlides/notesSlide11.xml" Id="Rf5114e806c7c47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EC5E5-02A9-401D-AF23-5002B52E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71D97-A86E-4B20-A78B-3AB833DD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BBA47-7378-40A4-987D-03D35B18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E0D0"/>
                </a:solidFill>
                <a:latin typeface="Aptos"/>
                <a:ea typeface="Aptos"/>
                <a:cs typeface="Aptos"/>
              </a:rPr>
              <a:t>SEMESTRÁLNA PRÁCA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C0D52-D346-448E-B75B-95F0C0F7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Automatické priraďovanie AFwizard filtrov pre tvorbu DTM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A5E0F-B613-4AD3-972A-6085906A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6715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E0D0"/>
                </a:solidFill>
                <a:latin typeface="Aptos"/>
                <a:ea typeface="Aptos"/>
                <a:cs typeface="Aptos"/>
              </a:rPr>
              <a:t>Model neklasifikuje každý bod samostatne. Učí sa vybrať najvhodnejší AFwizard filter pre segment point cloudu; samotný ground filtering potom vykoná AFwizard/LASTools.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E002B-70BE-4780-9A02-2BCC5BBB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876300"/>
            <a:ext cx="32385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A2E"/>
          </a:solidFill>
          <a:ln xmlns:a="http://schemas.openxmlformats.org/drawingml/2006/main" w="9525">
            <a:solidFill>
              <a:srgbClr val="3A45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9A3CA-0F51-46E9-BE68-6B5A4712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573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6C2A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66C2A5"/>
                </a:solidFill>
                <a:latin typeface="Aptos Display"/>
                <a:ea typeface="Aptos Display"/>
                <a:cs typeface="Aptos Display"/>
              </a:rPr>
              <a:t>100 %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99495-DEF2-4BA6-857B-20D64DEA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0D0"/>
                </a:solidFill>
                <a:latin typeface="Aptos"/>
                <a:ea typeface="Aptos"/>
                <a:cs typeface="Aptos"/>
              </a:rPr>
              <a:t>zhoda ML výberu s PK referenciou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52F44-08FE-470F-ADCD-851C57F0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3336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EC555-B099-4FFA-A1A6-D2922DB4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8F6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8F66"/>
                </a:solidFill>
                <a:latin typeface="Aptos Display"/>
                <a:ea typeface="Aptos Display"/>
                <a:cs typeface="Aptos Display"/>
              </a:rPr>
              <a:t>0.322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40A93-E461-4E5F-8712-485BBEFB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0D0"/>
                </a:solidFill>
                <a:latin typeface="Aptos"/>
                <a:ea typeface="Aptos"/>
                <a:cs typeface="Aptos"/>
              </a:rPr>
              <a:t>najnižšia RMSE voči StA referenčnému DTM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C9919-A581-4FE2-873B-3536C64C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09950"/>
            <a:ext cx="23336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5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F35DD-5B48-43F4-BEA0-898978EB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C1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2C16B"/>
                </a:solidFill>
                <a:latin typeface="Aptos Display"/>
                <a:ea typeface="Aptos Display"/>
                <a:cs typeface="Aptos Display"/>
              </a:rPr>
              <a:t>0.54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93641-C501-44AB-AFE8-10F85121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33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0D0"/>
                </a:solidFill>
                <a:latin typeface="Aptos"/>
                <a:ea typeface="Aptos"/>
                <a:cs typeface="Aptos"/>
              </a:rPr>
              <a:t>StA confidence, preto označené na kontrolu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6D3DF-504B-4CDB-BFBD-3C2019B4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LiDAR point cloud -&gt; geometrické príznaky -&gt; ML model -&gt; AFwizard filter -&gt; ground body -&gt; DTM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C517A-7E60-425C-9765-8401AF5B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D4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CD4C5"/>
                </a:solidFill>
                <a:latin typeface="Aptos"/>
                <a:ea typeface="Aptos"/>
                <a:cs typeface="Aptos"/>
              </a:rPr>
              <a:t>Filtrovanie point cloudu pre účely tvorby digitálneho terénneho modelu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BDD03-BC28-48EC-B5E8-435C49AA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CD4C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CD4C5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516673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006D5B-7FC9-408A-BCC3-1E3D8C5A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25A1C-AC26-4842-AFAD-C8D2D110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DC585-D9A1-4395-9B0A-21D0B000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INTERPRETÁCIA ZADANIA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859A4-6412-4F7B-8BA1-08408FC6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rPr>
              <a:t>Cieľ nie je nahradiť ground filter, ale automatizovať jeho výber.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A801A-1C6D-4862-B961-8146E973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Zadanie hovorí o AFwizard a automatickej optimalizácii filtrácie. Praktická interpretácia: model sa učí, ktorý existujúci AFwizard filter použiť pre daný typ segmentu.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05334-3752-4DE8-B02E-EC72B486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48CF4-9E70-4205-9A00-7D40EF33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4762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E384A-3DDD-443F-850C-43B961A1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4D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4D45"/>
                </a:solidFill>
                <a:latin typeface="Aptos"/>
                <a:ea typeface="Aptos"/>
                <a:cs typeface="Aptos"/>
              </a:rPr>
              <a:t>Nie toto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E9FC0-5D1B-47E6-BD14-A5C0998A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RandomForest klasifikuje každý LiDAR bod ako ground/non-ground.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82940-98E0-4990-8F1B-3039F44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To by znamenalo stavať vlastný ground-filter algoritmus.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E4BDB-752A-4AD1-A934-358E7CCF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48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C2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C2A5"/>
                </a:solidFill>
                <a:latin typeface="Aptos"/>
                <a:ea typeface="Aptos"/>
                <a:cs typeface="Aptos"/>
              </a:rPr>
              <a:t>Ale toto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488F9-C2D0-4BF5-8CA3-7B5B1FBB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ML model vyberá AFwizard pipeline hash pre segment.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38587-0C35-401B-BB5A-A59A3067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196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AFwizard potom spustí reálnu filtráciu cez LASTools backend.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87EBE-01A7-4B07-A088-524F2A55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57625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5E711-5A60-4AC7-8F7E-56B12DC4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8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1ACEA-839B-4EEF-985D-4ED447D3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Zdroj: zadanie + AFwizard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A6BCC-D309-44F3-A225-68BA7AAE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9844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CB405F-2192-4677-A6E6-8F196684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120D6-D870-4FF9-BC63-01EC4D1D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4B9BE-8DE8-413A-BBC5-7911DE8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PROBLÉM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29297-FA49-4E36-B9A2-E9C1C7E0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rPr>
              <a:t>Manuálne vizuálne priraďovanie filtrov je úzke miesto workflowu.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558FA-5D77-4948-A9E7-3DF38873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C2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33261-BFD0-479B-9571-D9189306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21505-4FC1-4491-A790-45EADAFA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5C321-3F54-4591-B272-A4C8E673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Operator skúša 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EE14B-EA10-4E13-8C72-12F5BC27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90825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AFwizard/LASTools parametre sa ladia vizuálne.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0DD7F-04A2-4047-A518-8A56DBE9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812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C2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8F086-4AC0-40A2-9F39-BD0D6E0D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93945-35A6-4737-B00F-5B6261F9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5270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550F4-CD7B-47D4-8EC2-F68CD30F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1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Kontroluje výsledok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C4B8C-C834-4114-BE12-B69E62BA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790825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Ground body sa posudzujú podľa náhľadu a DTM.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AC779-8B5F-44A0-881E-DDD2D9CC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F8F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47812-AF0E-48A6-9447-608B40B8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14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8001B-D5DE-4BA8-AEDB-DF172742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15F76-A856-405B-98B3-0E4D98BF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Priraďuje filter segmentu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B500C-DC7E-4E62-AC9A-DF5E63F6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90825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Výber sa zapíše ako pipeline do GeoJSON-u.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A707C-1331-4EBA-AC7F-FA38EA7A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76550"/>
            <a:ext cx="695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0505E-D211-426B-A27B-A6DAC9FB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28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4FBCD-6989-4646-92EB-CFC28DD3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76550"/>
            <a:ext cx="695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6F788-11AD-49ED-ADBA-5342A2D6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28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CE6E4-88E6-46E0-ABB8-396811D0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001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Automatizácia má nahradiť práve rozhodnutie operátora: ktorý filter patrí do ktorého segmentu.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EF137-63AB-4078-B7F7-AF302F9C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672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F6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5B5F62"/>
                </a:solidFill>
                <a:latin typeface="Aptos Mono"/>
                <a:ea typeface="Aptos Mono"/>
                <a:cs typeface="Aptos Mono"/>
              </a:rPr>
              <a:t>Výsledok musí zostať kompatibilný s AFwizard: segmentácia musí obsahovať `properties.pipeline`, teda hash filtra v knižnici.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EE994D-D2CB-4D8D-BAFA-627DA093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Manual feedback loop -&gt; ML filter assignment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7D8C2-7F77-4631-8817-A619FBD9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52774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F26BE-237A-4509-B29B-CCAD3B1B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BE7EE-E3C8-4833-B906-641A65B5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E918D-55EF-4BA1-A754-9C9184C8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E0D0"/>
                </a:solidFill>
                <a:latin typeface="Aptos"/>
                <a:ea typeface="Aptos"/>
                <a:cs typeface="Aptos"/>
              </a:rPr>
              <a:t>RIEŠENIE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4A4F7-3C35-4E86-AA8C-B8D32FF1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ML vrstva rozhodne o filtri, AFwizard vykoná filtráciu.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C4CDC-90B2-4265-BF26-F339C821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A2E"/>
          </a:solidFill>
          <a:ln xmlns:a="http://schemas.openxmlformats.org/drawingml/2006/main" w="11430">
            <a:solidFill>
              <a:srgbClr val="3B44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FBE67-100F-49C0-A321-5B5404F5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LAS/LAZ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B55F3-57E6-4D01-9C77-F0503CB7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CD4C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CD4C5"/>
                </a:solidFill>
                <a:latin typeface="Aptos"/>
                <a:ea typeface="Aptos"/>
                <a:cs typeface="Aptos"/>
              </a:rPr>
              <a:t>vstupný point 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4FDC5-3758-402F-B57A-CB05C3C3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765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D0EF6-C148-4DB1-8453-E15857A2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28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96A07-48B2-42AA-9851-F7705429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7650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A2E"/>
          </a:solidFill>
          <a:ln xmlns:a="http://schemas.openxmlformats.org/drawingml/2006/main" w="11430">
            <a:solidFill>
              <a:srgbClr val="3B44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44E30-BB60-40B5-AF63-532DE1FD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289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GeoJSON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5A59C-9091-4411-AA76-64DB201B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24175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CD4C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CD4C5"/>
                </a:solidFill>
                <a:latin typeface="Aptos"/>
                <a:ea typeface="Aptos"/>
                <a:cs typeface="Aptos"/>
              </a:rPr>
              <a:t>segmenty územia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AE84E-E1B9-4560-8D50-087A432F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765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1BBCD-6E65-4320-8ED4-16238F8D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28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2B270-D084-4A3A-9E08-E90F45B4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A2E"/>
          </a:solidFill>
          <a:ln xmlns:a="http://schemas.openxmlformats.org/drawingml/2006/main" w="11430">
            <a:solidFill>
              <a:srgbClr val="3B44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BA192-808C-450F-98EF-C8B99BA8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6DD03-F20A-4D66-864A-30D3C406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24175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CD4C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CD4C5"/>
                </a:solidFill>
                <a:latin typeface="Aptos"/>
                <a:ea typeface="Aptos"/>
                <a:cs typeface="Aptos"/>
              </a:rPr>
              <a:t>hustota, výšky, sklon, roughness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BFC3C-BDFA-4A09-BC6E-7A252EA1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765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FC30F-EBD3-499D-B074-580FA21F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28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6A38C-3D4D-4D95-91FE-4B8CB01F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66"/>
          </a:solidFill>
          <a:ln xmlns:a="http://schemas.openxmlformats.org/drawingml/2006/main" w="11430">
            <a:solidFill>
              <a:srgbClr val="FF8F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863AD-DC6E-410B-BBBE-5B3BF9CA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D7812B-B822-48C6-8C7F-9A30E9D2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24175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CD4C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CD4C5"/>
                </a:solidFill>
                <a:latin typeface="Aptos"/>
                <a:ea typeface="Aptos"/>
                <a:cs typeface="Aptos"/>
              </a:rPr>
              <a:t>predikcia pipeline hashu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DB866-8B30-472A-9763-AEA271D8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765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6FB34-676F-44C4-8EB2-575DA995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28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1C673-3538-46AC-855F-E916B45F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A2E"/>
          </a:solidFill>
          <a:ln xmlns:a="http://schemas.openxmlformats.org/drawingml/2006/main" w="11430">
            <a:solidFill>
              <a:srgbClr val="3B444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EFA64-4CE2-46C4-853F-969DF5CF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AFwizard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40D024-7E1B-442F-B5E9-83A100B6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24175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CD4C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CD4C5"/>
                </a:solidFill>
                <a:latin typeface="Aptos"/>
                <a:ea typeface="Aptos"/>
                <a:cs typeface="Aptos"/>
              </a:rPr>
              <a:t>LASTools filtrácia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4602C2-CFD7-4B4F-B5DD-3F80073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BF243-90E4-406B-BC44-8E162E19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28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B581F1-EA8D-44CB-B9ED-594344C1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7650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A2E"/>
          </a:solidFill>
          <a:ln xmlns:a="http://schemas.openxmlformats.org/drawingml/2006/main" w="11430">
            <a:solidFill>
              <a:srgbClr val="3B444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5B3E26-13AE-4086-AB11-774B1871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289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DTM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D2F311-361C-461F-B1CE-8495947D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24175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CD4C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CD4C5"/>
                </a:solidFill>
                <a:latin typeface="Aptos"/>
                <a:ea typeface="Aptos"/>
                <a:cs typeface="Aptos"/>
              </a:rPr>
              <a:t>ground body a raster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B0FE20-4EC9-4A86-AC6A-FC2685B8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0D0"/>
                </a:solidFill>
                <a:latin typeface="Aptos"/>
                <a:ea typeface="Aptos"/>
                <a:cs typeface="Aptos"/>
              </a:rPr>
              <a:t>Kľúč: model predikuje `pipeline`, nie výsledné body. Tým zostáva riešenie napojené na AFwizard knižnicu filtrov a zachováva existujúci filtering backend.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E8DCFF-6D2C-4AC0-BFD0-F12BC293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D4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CD4C5"/>
                </a:solidFill>
                <a:latin typeface="Aptos"/>
                <a:ea typeface="Aptos"/>
                <a:cs typeface="Aptos"/>
              </a:rPr>
              <a:t>Architektúra implementovaná v main.py, feature_extraction.py, ml_optimizer.py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1C1013-17F6-4C57-B9D2-18E61928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CD4C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CD4C5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2260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1A92B4-76E5-4551-B9E6-B8DCB2E2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00EB1-B1BD-4F4B-9B3A-1D74301B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843E2-30E2-4AEE-8600-96F9A79F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TRÉNOVANIE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653CB-D660-444B-BB5C-AA33D56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rPr>
              <a:t>Model sa učí z referenčne priradených segmentov PK.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1FE26-1D1D-4123-88F0-3C2CE2AA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47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Tréningový label nie je názov súboru, ale AFwizard `pipeline` hash. Segmenty sa delia na dlaždice, aby z malého počtu oblastí vzniklo viac lokálnych vzoriek.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28D5D-91F4-41C3-A743-631AF2E1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C5997-2C6B-4435-BEBB-B9E64E20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Tréningové dáta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B47A3-5C35-425B-AA2D-1A967F55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A5C8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2A5C8A"/>
                </a:solidFill>
                <a:latin typeface="Aptos Mono"/>
                <a:ea typeface="Aptos Mono"/>
                <a:cs typeface="Aptos Mono"/>
              </a:rPr>
              <a:t>data/PK_last.laz</a:t>
            </a:r>
          </a:p>
          <a:p xmlns:a="http://schemas.openxmlformats.org/drawingml/2006/main">
            <a:pPr algn="l">
              <a:defRPr sz="1200" b="0">
                <a:solidFill>
                  <a:srgbClr val="2A5C8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2A5C8A"/>
                </a:solidFill>
                <a:latin typeface="Aptos Mono"/>
                <a:ea typeface="Aptos Mono"/>
                <a:cs typeface="Aptos Mono"/>
              </a:rPr>
              <a:t>+ data/PK_segments_assigned.geojson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8EA82-E761-4908-B557-E7668844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Referenčné priradenie:</a:t>
            </a:r>
          </a:p>
          <a:p xmlns:a="http://schemas.openxmlformats.org/drawingml/2006/main">
            <a:pPr algn="l">
              <a:defRPr sz="112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veg -&gt; Ground points over land</a:t>
            </a:r>
          </a:p>
          <a:p xmlns:a="http://schemas.openxmlformats.org/drawingml/2006/main">
            <a:pPr algn="l">
              <a:defRPr sz="112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UW  -&gt; Ground points in the water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91D32-57A3-489E-9511-8D6B694D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14625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A05C5-F18A-4CC7-9D33-6C9601EF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Príznaky pre 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B3A6E-E9C7-443F-B747-44D57EF0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8F66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8F66"/>
                </a:solidFill>
                <a:latin typeface="Aptos Mono"/>
                <a:ea typeface="Aptos Mono"/>
                <a:cs typeface="Aptos Mono"/>
              </a:rPr>
              <a:t>density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378BB-7A81-4069-AA4B-630F1E4F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909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hustota bodov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B79BB-EA5B-4B97-A745-C1E0D3A7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95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8F66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8F66"/>
                </a:solidFill>
                <a:latin typeface="Aptos Mono"/>
                <a:ea typeface="Aptos Mono"/>
                <a:cs typeface="Aptos Mono"/>
              </a:rPr>
              <a:t>z_std / range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A60E2-4EC7-451C-8323-E5B59A9C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variabilita výšky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09216-AA1A-474A-A051-954C78A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8F66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8F66"/>
                </a:solidFill>
                <a:latin typeface="Aptos Mono"/>
                <a:ea typeface="Aptos Mono"/>
                <a:cs typeface="Aptos Mono"/>
              </a:rPr>
              <a:t>plane_slope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81318-19D4-411A-B9CB-7C5D8C3F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sklon roviny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DDD86-248D-47B6-9E89-AC6160D8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5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8F66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8F66"/>
                </a:solidFill>
                <a:latin typeface="Aptos Mono"/>
                <a:ea typeface="Aptos Mono"/>
                <a:cs typeface="Aptos Mono"/>
              </a:rPr>
              <a:t>plane_rmse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DEEAF-E0A3-4BD0-9982-01650915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05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roughness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35653-C174-4504-ACB2-E2F1886D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01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8F66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8F66"/>
                </a:solidFill>
                <a:latin typeface="Aptos Mono"/>
                <a:ea typeface="Aptos Mono"/>
                <a:cs typeface="Aptos Mono"/>
              </a:rPr>
              <a:t>above_p10_1m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ACE28-4103-4BC1-8C79-66CE81FB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10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podiel vyšších bodov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33527-BE40-423E-82DB-146D6FCD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RandomForestClassifier: 129 tiled samples, 2 classes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1DC7E7-06A4-41DE-906A-A93DEB24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76568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F565D9-3430-4815-BCF7-EDDE0586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B289D-6527-468D-9F03-AC391309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577DA-87F5-498E-8588-A08B02C0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FILTER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04BA0-0D68-4036-BBF6-E65F29D1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rPr>
              <a:t>Model vyberá z reálnych AFwizard filtrov, ktoré sú dostupné v knižnici.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02149-D81A-4B82-AB3F-16CFEF4D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2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1E96F-0C6A-441F-9ECE-64FB249D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82295-74BF-4A40-8553-D53B38D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Pipeline hash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2E81D-9AD4-49D8-841F-B7254073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22451-3927-416C-9593-3BA10CA6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Použitie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627B5-9D3D-4DE3-8520-B87BA28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101441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B96E1-2C61-4519-B708-2691A678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14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51EB0-B0F0-424B-AF63-9C99B1EC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Ground points over land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81731-7259-4159-93E0-308C88D9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95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5C8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A5C8A"/>
                </a:solidFill>
                <a:latin typeface="Aptos Mono"/>
                <a:ea typeface="Aptos Mono"/>
                <a:cs typeface="Aptos Mono"/>
              </a:rPr>
              <a:t>da3ef59d...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C48B7-D7B8-405C-B25B-3F17D9AD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191C"/>
                </a:solidFill>
                <a:latin typeface="Aptos"/>
                <a:ea typeface="Aptos"/>
                <a:cs typeface="Aptos"/>
              </a:rPr>
              <a:t>LASTools 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4975B-18B7-43B2-83C0-8857DA81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bežný terén / vegetácia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A0FA0-40D7-4A75-ABB6-FFDC6BDA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7E172-B395-4B3E-8598-D05414CA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Ground points in the water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C7486-0C67-4DF2-AB47-CEC9AC71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62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5C8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A5C8A"/>
                </a:solidFill>
                <a:latin typeface="Aptos Mono"/>
                <a:ea typeface="Aptos Mono"/>
                <a:cs typeface="Aptos Mono"/>
              </a:rPr>
              <a:t>0f94f365...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24572-A0D9-4084-BF1F-63407B71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191C"/>
                </a:solidFill>
                <a:latin typeface="Aptos"/>
                <a:ea typeface="Aptos"/>
                <a:cs typeface="Aptos"/>
              </a:rPr>
              <a:t>LASTools pipeline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90187-9C32-49BE-8AE3-14843F10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623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vodný segment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48C76-2C12-4CCE-89C9-F019638E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919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Dôležité pre obhajobu: AFwizard nerozlišuje filtre podľa názvu súboru, ale podľa metadata hashu `properties.pipeline`.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DB302-1C3C-4CA4-86D2-27AEF0BD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Knižnica: data/output/*.json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F22F3-C61F-415F-B1A4-AB7A6303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95090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8166BF-8020-46DB-AC58-826CF099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13BA2-B9C8-47DB-8C0E-7FEDA31D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67BB3-0385-4F64-B829-3E2E9D27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PK VALIDÁCIA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95441-FF84-4611-8B74-CC7667EE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rPr>
              <a:t>Na PK model zvolil rovnaké filtre ako referencia.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DBE2C-8ECF-4F8A-A1C9-12323B9F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685925"/>
            <a:ext cx="78295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353b87f4e42b4"/>
          <a:stretch xmlns:a="http://schemas.openxmlformats.org/drawingml/2006/main"/>
        </p:blipFill>
        <p:spPr>
          <a:xfrm xmlns:a="http://schemas.openxmlformats.org/drawingml/2006/main">
            <a:off x="457200" y="2332587"/>
            <a:ext cx="7810500" cy="242142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8CCD7-5EA8-4FAF-B8DD-AF96361F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24765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22F25-F5AA-4BEC-8EC7-C50EA3FA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6C2A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66C2A5"/>
                </a:solidFill>
                <a:latin typeface="Aptos Display"/>
                <a:ea typeface="Aptos Display"/>
                <a:cs typeface="Aptos Display"/>
              </a:rPr>
              <a:t>100 %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83226-1423-4621-9AD8-03D84B73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003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zhoda automatického výberu s referenciou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A6E87-1538-4A4E-8F62-1EC8A9F4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48000"/>
            <a:ext cx="19526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E4991-A4C1-4051-A505-C8447A6B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956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8F6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8F66"/>
                </a:solidFill>
                <a:latin typeface="Aptos Display"/>
                <a:ea typeface="Aptos Display"/>
                <a:cs typeface="Aptos Display"/>
              </a:rPr>
              <a:t>96.3 %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6EBE1-CAAA-4E2F-9D9B-8ED20477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528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confidence pre segment veg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A54D1-9762-4482-95DD-FDA0AA07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71950"/>
            <a:ext cx="19526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E791D-861C-4B49-8BB5-E05FF28C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96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6C2A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66C2A5"/>
                </a:solidFill>
                <a:latin typeface="Aptos Display"/>
                <a:ea typeface="Aptos Display"/>
                <a:cs typeface="Aptos Display"/>
              </a:rPr>
              <a:t>95.2 %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A6264-2F7D-4D88-91C7-F795F915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8768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confidence pre segment UW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745F0-568C-4B15-8DF6-B6AE2425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Výstup: output/visualizations/ml_filter_selection_check.png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BDC1B-2664-43B0-9ACE-0E32362B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99170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BB81BD-FC4E-4C5E-ACC2-CF22BCEF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D0DFE-D826-4AEA-ABA2-1B88FA33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052A3-A7DD-4D0B-86E5-9F17C863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E0D0"/>
                </a:solidFill>
                <a:latin typeface="Aptos"/>
                <a:ea typeface="Aptos"/>
                <a:cs typeface="Aptos"/>
              </a:rPr>
              <a:t>VÝSLEDOK FILTRÁCIE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41FDF-A902-4A4F-9F9F-98F92F51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 automatickom výbere filtra vznikne očistený DTM povrch.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B9BC8-76A4-4D04-98EF-CB4C4B8C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114109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53f56b8ca466f"/>
          <a:stretch xmlns:a="http://schemas.openxmlformats.org/drawingml/2006/main"/>
        </p:blipFill>
        <p:spPr>
          <a:xfrm xmlns:a="http://schemas.openxmlformats.org/drawingml/2006/main">
            <a:off x="2184930" y="1638300"/>
            <a:ext cx="782214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A52FB-E803-4535-87DB-3F480F34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09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E0D0"/>
                </a:solidFill>
                <a:latin typeface="Aptos"/>
                <a:ea typeface="Aptos"/>
                <a:cs typeface="Aptos"/>
              </a:rPr>
              <a:t>Vľavo DSM pred filtráciou, v strede DTM po ML + AFwizard filtrácii, vpravo odfiltrovaná výška nad terénom.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2425F-4705-4AB6-84A1-0C07FBD3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D4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CD4C5"/>
                </a:solidFill>
                <a:latin typeface="Aptos"/>
                <a:ea typeface="Aptos"/>
                <a:cs typeface="Aptos"/>
              </a:rPr>
              <a:t>PK raster pred/po filtrácii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3A81E-54C6-4B4E-A5BF-95DA8EBA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CD4C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CD4C5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34720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CB4A06-D25C-4A6B-979C-80A162F7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63E0C-FC91-4C46-B46D-0F2B431D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7CAEB-1C36-4B51-971E-652B974A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STA GENERALIZÁCIA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20FC7-6E7C-461C-9218-847A903D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rPr>
              <a:t>Na novom StA datasete model vie predikovať filter, ale správne signalizuje neistotu.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5AFC2-59A2-46EA-8B82-D77D9190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81175"/>
            <a:ext cx="70675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86b9481684dca"/>
          <a:stretch xmlns:a="http://schemas.openxmlformats.org/drawingml/2006/main"/>
        </p:blipFill>
        <p:spPr>
          <a:xfrm xmlns:a="http://schemas.openxmlformats.org/drawingml/2006/main">
            <a:off x="533400" y="2093316"/>
            <a:ext cx="7048500" cy="28237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574BE-6618-4DFB-960F-717B7A47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3143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8F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AEC2F-2BEA-4C21-B246-91BBB193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47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F66"/>
                </a:solidFill>
                <a:latin typeface="Aptos"/>
                <a:ea typeface="Aptos"/>
                <a:cs typeface="Aptos"/>
              </a:rPr>
              <a:t>StA výber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75B60-B8D5-4466-B115-669B4227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Ground points over land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C5D1F-CA87-4FFF-A913-3308B227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90875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5C8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2A5C8A"/>
                </a:solidFill>
                <a:latin typeface="Aptos Mono"/>
                <a:ea typeface="Aptos Mono"/>
                <a:cs typeface="Aptos Mono"/>
              </a:rPr>
              <a:t>confidence 54.0 %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B910B-F078-4D89-80BF-0B194055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38550"/>
            <a:ext cx="2238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83B75-0140-4B22-88E0-B0243117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F6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5B5F62"/>
                </a:solidFill>
                <a:latin typeface="Aptos Mono"/>
                <a:ea typeface="Aptos Mono"/>
                <a:cs typeface="Aptos Mono"/>
              </a:rPr>
              <a:t>`ml_requires_review = true`</a:t>
            </a:r>
          </a:p>
          <a:p xmlns:a="http://schemas.openxmlformats.org/drawingml/2006/main">
            <a:pPr algn="l">
              <a:defRPr sz="1125" b="0">
                <a:solidFill>
                  <a:srgbClr val="5B5F6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5B5F62"/>
                </a:solidFill>
                <a:latin typeface="Aptos Mono"/>
                <a:ea typeface="Aptos Mono"/>
                <a:cs typeface="Aptos Mono"/>
              </a:rPr>
              <a:t>pretože threshold je 70 %.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904A0-BE03-4507-9CEE-E80FB4C0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Výstup: output/StA_segment_ML_assigned.geojson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2FAFE-8AB1-4B0B-815F-8417B5AE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89270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854C3E-9692-4EF2-9DE7-CDAF1DE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D63BD-862F-43A8-84C5-1F1A0545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57A6F-7C19-448C-9FC6-E810D71F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LEPŠÍ LEVEL OVERENIA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16732-5816-4123-81F5-A7262B6B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1C"/>
                </a:solidFill>
                <a:latin typeface="Aptos Display"/>
                <a:ea typeface="Aptos Display"/>
                <a:cs typeface="Aptos Display"/>
              </a:rPr>
              <a:t>DTM benchmark potvrdil rovnaký StA filter, ktorý navrhol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CF718-ED27-438F-85F8-65B325B9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704975"/>
            <a:ext cx="72580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e0e90d91444b7"/>
          <a:stretch xmlns:a="http://schemas.openxmlformats.org/drawingml/2006/main"/>
        </p:blipFill>
        <p:spPr>
          <a:xfrm xmlns:a="http://schemas.openxmlformats.org/drawingml/2006/main">
            <a:off x="457200" y="2183045"/>
            <a:ext cx="7239000" cy="249191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1AFCD-0FA4-4D5D-B554-55495D63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4191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4AAEA-4B44-4BE5-A547-7030E788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Poradie podľa 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996A2-49BE-4DA9-811B-49C9EEBC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43175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191C"/>
                </a:solidFill>
                <a:latin typeface="Aptos"/>
                <a:ea typeface="Aptos"/>
                <a:cs typeface="Aptos"/>
              </a:rPr>
              <a:t>over land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E41B5-AE87-4038-94D9-A914DBF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9F6D1-94E5-428B-B03C-D1DB5D0C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157612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F37A1-C509-4D8B-BB61-AD363C0A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5527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0.322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A81E3-8EB4-4113-914E-AB1F9ECF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95625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191C"/>
                </a:solidFill>
                <a:latin typeface="Aptos"/>
                <a:ea typeface="Aptos"/>
                <a:cs typeface="Aptos"/>
              </a:rPr>
              <a:t>in water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A7F15-FB40-4DEF-9C97-4DD436FD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2420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E9A86-B98B-4B48-B1A1-311CE16F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24200"/>
            <a:ext cx="1625071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E2593-702C-4829-BA5F-FE98A33B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1051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1C"/>
                </a:solidFill>
                <a:latin typeface="Aptos"/>
                <a:ea typeface="Aptos"/>
                <a:cs typeface="Aptos"/>
              </a:rPr>
              <a:t>0.332 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2ED33-A899-4527-9023-BF5476F4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29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F62"/>
                </a:solidFill>
                <a:latin typeface="Aptos"/>
                <a:ea typeface="Aptos"/>
                <a:cs typeface="Aptos"/>
              </a:rPr>
              <a:t>Interpretácia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6C4AD-FA60-4290-BC9D-44977D6E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148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191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5191C"/>
                </a:solidFill>
                <a:latin typeface="Aptos"/>
                <a:ea typeface="Aptos"/>
                <a:cs typeface="Aptos"/>
              </a:rPr>
              <a:t>Rozdiel je malý, čo vysvetľuje nižšiu confidence modelu. Napriek tomu benchmark voči referenčnému DTM vyberá `Ground points over land`.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D9B44-76E8-42E3-98F2-43D12923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F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5F62"/>
                </a:solidFill>
                <a:latin typeface="Aptos"/>
                <a:ea typeface="Aptos"/>
                <a:cs typeface="Aptos"/>
              </a:rPr>
              <a:t>Benchmark: output/benchmarks/sta/candidate_metrics.csv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3C4EA1-3914-444D-AF43-BBAA5D92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F62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03727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444974-F3F9-4E81-B7BA-47FF2CF8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EA9BF-F0D1-4649-BEA5-17593DBD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C6356-E3C6-42E6-9487-611102F5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E0D0"/>
                </a:solidFill>
                <a:latin typeface="Aptos"/>
                <a:ea typeface="Aptos"/>
                <a:cs typeface="Aptos"/>
              </a:rPr>
              <a:t>ZÁVER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8ECF4-04A2-4958-A5D7-8637AF06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Riešenie spĺňa zadanie ako automatizovaný meta-optimalizátor AFwizard filtrov.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C8DEC-A62A-4303-8331-99054C8B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1484B-AD1F-4967-A5F0-C49F365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574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ML výber filtrov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E4A16-C389-4601-AEE0-CA26DAEA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E8E0D0"/>
                </a:solidFill>
                <a:latin typeface="Aptos"/>
                <a:ea typeface="Aptos"/>
                <a:cs typeface="Aptos"/>
              </a:rPr>
              <a:t>Random Forest predikuje AFwizard pipeline hash podľa geometrických príznakov segmentu.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75F24-0C5E-43E3-B4E6-D60D901C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9334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1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29393-4FB2-4D04-AF0F-2E789DE7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11721-0C3F-4337-BB96-CCC23AFD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Reálna filtrácia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3C150-CAF3-4826-98F3-BDE9C330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765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E8E0D0"/>
                </a:solidFill>
                <a:latin typeface="Aptos"/>
                <a:ea typeface="Aptos"/>
                <a:cs typeface="Aptos"/>
              </a:rPr>
              <a:t>AFwizard + LASTools vytvorí klasifikovaný LAS a DTM raster.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46DEB-C4C3-46B0-A595-F5DAFADB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9334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1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14388-1CD0-41FC-AF45-6BDC3A3B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19713-6F88-4734-A398-5AF7928F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Objektívne overenie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2340B-EDAE-4022-9372-62E0BB9E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9570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E8E0D0"/>
                </a:solidFill>
                <a:latin typeface="Aptos"/>
                <a:ea typeface="Aptos"/>
                <a:cs typeface="Aptos"/>
              </a:rPr>
              <a:t>PK: zhoda s referenciou. StA: benchmark voči referenčnému DTM.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A4281-D93C-43E9-AB1E-697B56A8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9334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1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BB03C-919A-4008-ACD7-D2F50FC9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2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AA7A9-5ED9-4B97-AB98-966E6EF9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Bezpečný výstup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91EB8-8B3B-4A3B-A4D9-FF11B97F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8E0D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E8E0D0"/>
                </a:solidFill>
                <a:latin typeface="Aptos"/>
                <a:ea typeface="Aptos"/>
                <a:cs typeface="Aptos"/>
              </a:rPr>
              <a:t>Nízka confidence zapne `ml_requires_review`, namiesto slepého tvrdenia správnosti.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B0DED-078C-40BF-BC6E-8A5544E5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9334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1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8BAAFF-E8B3-4C7C-908F-62DA3A5D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959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Obhajobná veta: „Model nenahrádza ground filter; automatizuje výber AFwizard filtra a výsledok overujeme metrikami aj DTM benchmarkom.“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07A78-71C8-428F-9F18-19725C84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CD4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CD4C5"/>
                </a:solidFill>
                <a:latin typeface="Aptos"/>
                <a:ea typeface="Aptos"/>
                <a:cs typeface="Aptos"/>
              </a:rPr>
              <a:t>Finálny výstup: notebook, skripty, LAS/DTM výsledky a prezentácia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67F9C-3AA7-4CA1-BBF2-844DEF45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CD4C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DCD4C5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2469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2026-05-09T21:40:48.5590000Z</dcterms:created>
  <dcterms:modified xsi:type="dcterms:W3CDTF">2026-05-09T21:40:48.5590000Z</dcterms:modified>
</coreProperties>
</file>